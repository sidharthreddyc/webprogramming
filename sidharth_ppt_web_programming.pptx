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0058400" cy="77724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7a3e2d7-d401-9eec-00b0-3bf76fbed6e9}">
          <p14:sldIdLst>
            <p14:sldId id="256"/>
          </p14:sldIdLst>
        </p14:section>
        <p14:section name="Introduction" id="{687520d8-17a8-a8b5-54fc-481c004256d2}">
          <p14:sldIdLst>
            <p14:sldId id="257"/>
          </p14:sldIdLst>
        </p14:section>
        <p14:section name="Technology" id="{1e778da7-1b80-265c-5f21-48bef899f544}">
          <p14:sldIdLst>
            <p14:sldId id="258"/>
            <p14:sldId id="259"/>
          </p14:sldIdLst>
        </p14:section>
        <p14:section name="Implementation" id="{6049987e-80a5-eee9-597b-aa38b548750d}">
          <p14:sldIdLst>
            <p14:sldId id="260"/>
            <p14:sldId id="261"/>
            <p14:sldId id="262"/>
            <p14:sldId id="263"/>
            <p14:sldId id="264"/>
          </p14:sldIdLst>
        </p14:section>
        <p14:section name="Data &amp; Backend" id="{6a67c044-578c-4339-469f-cbc7c7afb783}">
          <p14:sldIdLst>
            <p14:sldId id="265"/>
            <p14:sldId id="266"/>
          </p14:sldIdLst>
        </p14:section>
        <p14:section name="Conclusion" id="{a637516b-cd40-241e-c16a-45773d966bd3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2060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002060"/>
                </a:solidFill>
                <a:latin typeface="+mn-lt"/>
              </a:rPr>
              <a:t>Penalty weights (points)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Penalty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0206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PPE</c:v>
                  </c:pt>
                  <c:pt idx="1">
                    <c:v>Isolation</c:v>
                  </c:pt>
                  <c:pt idx="2">
                    <c:v>Zone</c:v>
                  </c:pt>
                  <c:pt idx="3">
                    <c:v>Tool</c:v>
                  </c:pt>
                  <c:pt idx="4">
                    <c:v>Sequence</c:v>
                  </c:pt>
                  <c:pt idx="5">
                    <c:v>Fire</c:v>
                  </c:pt>
                  <c:pt idx="6">
                    <c:v>Fumes</c:v>
                  </c:pt>
                  <c:pt idx="7">
                    <c:v>Clamp</c:v>
                  </c:pt>
                  <c:pt idx="8">
                    <c:v>WPS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</c:v>
                </c:pt>
                <c:pt idx="1">
                  <c:v>15</c:v>
                </c:pt>
                <c:pt idx="2">
                  <c:v>12</c:v>
                </c:pt>
                <c:pt idx="3">
                  <c:v>8</c:v>
                </c:pt>
                <c:pt idx="4">
                  <c:v>8</c:v>
                </c:pt>
                <c:pt idx="5">
                  <c:v>15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00206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in the Rajalakshmi Engineering College template 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REC-Title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REC-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C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1920240" cy="6272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C 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2350008"/>
            <a:ext cx="5120640" cy="10058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Shape 1"/>
          <p:cNvSpPr/>
          <p:nvPr/>
        </p:nvSpPr>
        <p:spPr>
          <a:xfrm>
            <a:off x="5797296" y="2350008"/>
            <a:ext cx="3621024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6135624"/>
            <a:ext cx="8705088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76656" y="1645920"/>
            <a:ext cx="8778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(Cyber Security)</a:t>
            </a:r>
            <a:endParaRPr lang="en-US" sz="2600" dirty="0"/>
          </a:p>
        </p:txBody>
      </p:sp>
      <p:sp>
        <p:nvSpPr>
          <p:cNvPr id="3" name="Title rule"/>
          <p:cNvSpPr/>
          <p:nvPr/>
        </p:nvSpPr>
        <p:spPr>
          <a:xfrm>
            <a:off x="749808" y="3154680"/>
            <a:ext cx="5303520" cy="10058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Shape 2"/>
          <p:cNvSpPr/>
          <p:nvPr/>
        </p:nvSpPr>
        <p:spPr>
          <a:xfrm>
            <a:off x="6053328" y="3145536"/>
            <a:ext cx="3255264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36576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DOMAIN: </a:t>
            </a:r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Development (HTML5, CSS3, JavaScript, Three.js + WebXR)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1605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TITLE: </a:t>
            </a:r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SkillSafe VR: AR/VR Vocational Safety Training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6634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SUBMISSION: </a:t>
            </a:r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Programming Mini Project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54864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NAME: </a:t>
            </a:r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Sidharth Reddy C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 NO: </a:t>
            </a:r>
            <a:r>
              <a:rPr lang="en-US" sz="1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241901107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76656" y="164592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04088" y="2606040"/>
            <a:ext cx="5577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it is: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browser-based AR/VR platform for practising workplace safety.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Learners follow a real work order in a simulated workshop.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mistake gives instant feedback: what, why, correct step.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Scores, levels and recommendations track improvement.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the web: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Runs on a phone, laptop or VR headset browser.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install: share a link.</a:t>
            </a:r>
            <a:endParaRPr lang="en-US" sz="1400" dirty="0"/>
          </a:p>
        </p:txBody>
      </p:sp>
      <p:sp>
        <p:nvSpPr>
          <p:cNvPr id="4" name="Stat box"/>
          <p:cNvSpPr/>
          <p:nvPr/>
        </p:nvSpPr>
        <p:spPr>
          <a:xfrm>
            <a:off x="6556248" y="2651760"/>
            <a:ext cx="1362456" cy="13258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56248" y="2724912"/>
            <a:ext cx="13624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629400" y="3380994"/>
            <a:ext cx="1216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safety modules: Electrical and Welding</a:t>
            </a:r>
            <a:endParaRPr lang="en-US" sz="1000" dirty="0"/>
          </a:p>
        </p:txBody>
      </p:sp>
      <p:sp>
        <p:nvSpPr>
          <p:cNvPr id="7" name="Stat box"/>
          <p:cNvSpPr/>
          <p:nvPr/>
        </p:nvSpPr>
        <p:spPr>
          <a:xfrm>
            <a:off x="8055864" y="2651760"/>
            <a:ext cx="1362456" cy="13258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55864" y="2724912"/>
            <a:ext cx="13624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129016" y="3380994"/>
            <a:ext cx="1216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modes: 3D, cards, AR</a:t>
            </a:r>
            <a:endParaRPr lang="en-US" sz="1000" dirty="0"/>
          </a:p>
        </p:txBody>
      </p:sp>
      <p:sp>
        <p:nvSpPr>
          <p:cNvPr id="10" name="Stat box"/>
          <p:cNvSpPr/>
          <p:nvPr/>
        </p:nvSpPr>
        <p:spPr>
          <a:xfrm>
            <a:off x="6556248" y="4114800"/>
            <a:ext cx="1362456" cy="13258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56248" y="4187952"/>
            <a:ext cx="13624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4844034"/>
            <a:ext cx="1216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browser APIs used</a:t>
            </a:r>
            <a:endParaRPr lang="en-US" sz="1000" dirty="0"/>
          </a:p>
        </p:txBody>
      </p:sp>
      <p:sp>
        <p:nvSpPr>
          <p:cNvPr id="13" name="Stat box"/>
          <p:cNvSpPr/>
          <p:nvPr/>
        </p:nvSpPr>
        <p:spPr>
          <a:xfrm>
            <a:off x="8055864" y="4114800"/>
            <a:ext cx="1362456" cy="13258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55864" y="4187952"/>
            <a:ext cx="13624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129016" y="4844034"/>
            <a:ext cx="1216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installs or servers needed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76656" y="164592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04088" y="2606040"/>
            <a:ext cx="5577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Frontend: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HTML5 single page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CSS3: Grid, Flexbox, variables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JavaScript ES6, no framework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Graphics &amp; XR: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Three.js r128 on WebGL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WebXR for VR headsets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Canvas 2D for AR analysis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Browser services: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Camera: getUserMedia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Speech + Web Audio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localStorage persistence</a:t>
            </a:r>
            <a:endParaRPr lang="en-US" sz="1300" dirty="0"/>
          </a:p>
        </p:txBody>
      </p:sp>
      <p:sp>
        <p:nvSpPr>
          <p:cNvPr id="4" name="Tech chip HTML5"/>
          <p:cNvSpPr/>
          <p:nvPr/>
        </p:nvSpPr>
        <p:spPr>
          <a:xfrm>
            <a:off x="6556248" y="2651760"/>
            <a:ext cx="1362456" cy="40233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47688" y="2651760"/>
            <a:ext cx="1179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HTML5</a:t>
            </a:r>
            <a:endParaRPr lang="en-US" sz="1300" dirty="0"/>
          </a:p>
        </p:txBody>
      </p:sp>
      <p:sp>
        <p:nvSpPr>
          <p:cNvPr id="6" name="Tech chip CSS3"/>
          <p:cNvSpPr/>
          <p:nvPr/>
        </p:nvSpPr>
        <p:spPr>
          <a:xfrm>
            <a:off x="8055864" y="2651760"/>
            <a:ext cx="1362456" cy="40233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47304" y="2651760"/>
            <a:ext cx="1179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CSS3</a:t>
            </a:r>
            <a:endParaRPr lang="en-US" sz="1300" dirty="0"/>
          </a:p>
        </p:txBody>
      </p:sp>
      <p:sp>
        <p:nvSpPr>
          <p:cNvPr id="8" name="Tech chip JavaScript"/>
          <p:cNvSpPr/>
          <p:nvPr/>
        </p:nvSpPr>
        <p:spPr>
          <a:xfrm>
            <a:off x="6556248" y="3154680"/>
            <a:ext cx="1362456" cy="40233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47688" y="3154680"/>
            <a:ext cx="1179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0" name="Tech chip Three.js"/>
          <p:cNvSpPr/>
          <p:nvPr/>
        </p:nvSpPr>
        <p:spPr>
          <a:xfrm>
            <a:off x="8055864" y="3154680"/>
            <a:ext cx="1362456" cy="40233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47304" y="3154680"/>
            <a:ext cx="1179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Three.js</a:t>
            </a:r>
            <a:endParaRPr lang="en-US" sz="1300" dirty="0"/>
          </a:p>
        </p:txBody>
      </p:sp>
      <p:sp>
        <p:nvSpPr>
          <p:cNvPr id="12" name="Tech chip WebXR"/>
          <p:cNvSpPr/>
          <p:nvPr/>
        </p:nvSpPr>
        <p:spPr>
          <a:xfrm>
            <a:off x="6556248" y="3657600"/>
            <a:ext cx="2862072" cy="40233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47688" y="3657600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WebXR</a:t>
            </a:r>
            <a:endParaRPr lang="en-US" sz="1300" dirty="0"/>
          </a:p>
        </p:txBody>
      </p:sp>
      <p:sp>
        <p:nvSpPr>
          <p:cNvPr id="14" name="Backend note"/>
          <p:cNvSpPr/>
          <p:nvPr/>
        </p:nvSpPr>
        <p:spPr>
          <a:xfrm>
            <a:off x="6556248" y="4343400"/>
            <a:ext cx="2862072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47688" y="4343400"/>
            <a:ext cx="2679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Backend: none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runs fully client-side. A REST API and database are designed on slides 10 and 11.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76656" y="164592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04088" y="2606040"/>
            <a:ext cx="5577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Presentation: </a:t>
            </a:r>
            <a:pPr algn="just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views, router, dashboards, reports.</a:t>
            </a:r>
            <a:endParaRPr lang="en-US" sz="1400" dirty="0"/>
          </a:p>
          <a:p>
            <a:pPr algn="just"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logic: </a:t>
            </a:r>
            <a:pPr algn="just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 engine, scoring, recommender, voice.</a:t>
            </a:r>
            <a:endParaRPr lang="en-US" sz="1400" dirty="0"/>
          </a:p>
          <a:p>
            <a:pPr algn="just"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Rendering: </a:t>
            </a:r>
            <a:pPr algn="just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Three.js 3D, card view, AR canvas, WebXR.</a:t>
            </a:r>
            <a:endParaRPr lang="en-US" sz="1400" dirty="0"/>
          </a:p>
          <a:p>
            <a:pPr algn="just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Persistence: </a:t>
            </a:r>
            <a:pPr algn="just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localStorage adapter, later a REST API.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principles: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Scenarios are data (the MODS object).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 is separate from the renderer.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Adapters swap storage, recommender and renderer.</a:t>
            </a:r>
            <a:endParaRPr lang="en-US" sz="1400" dirty="0"/>
          </a:p>
        </p:txBody>
      </p:sp>
      <p:sp>
        <p:nvSpPr>
          <p:cNvPr id="4" name="Layer 1"/>
          <p:cNvSpPr/>
          <p:nvPr/>
        </p:nvSpPr>
        <p:spPr>
          <a:xfrm>
            <a:off x="6556248" y="2651760"/>
            <a:ext cx="2862072" cy="5669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47688" y="2651760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  Presentation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987284" y="3236976"/>
            <a:ext cx="0" cy="201168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7" name="Layer 2"/>
          <p:cNvSpPr/>
          <p:nvPr/>
        </p:nvSpPr>
        <p:spPr>
          <a:xfrm>
            <a:off x="6556248" y="3456432"/>
            <a:ext cx="2862072" cy="5669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3456432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  Application logic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87284" y="4041648"/>
            <a:ext cx="0" cy="201168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0" name="Layer 3"/>
          <p:cNvSpPr/>
          <p:nvPr/>
        </p:nvSpPr>
        <p:spPr>
          <a:xfrm>
            <a:off x="6556248" y="4261104"/>
            <a:ext cx="2862072" cy="5669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4261104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  Rendering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87284" y="4846320"/>
            <a:ext cx="0" cy="201168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Layer 4"/>
          <p:cNvSpPr/>
          <p:nvPr/>
        </p:nvSpPr>
        <p:spPr>
          <a:xfrm>
            <a:off x="6556248" y="5065776"/>
            <a:ext cx="2862072" cy="5669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47688" y="5065776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  Persistence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76656" y="164592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 I: HTML &amp; CSS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04088" y="2606040"/>
            <a:ext cx="4937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Semantic page: nav, main, tables, canvas, video.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CSS variables drive dark and light themes.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Grid + Flexbox: cards reflow on phones.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Safe-area insets for notched devices.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Accessibility: focus-visible, reduced motion.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Touch pad appears only when the pointer is not precise.</a:t>
            </a:r>
            <a:endParaRPr lang="en-US" sz="1400" dirty="0"/>
          </a:p>
        </p:txBody>
      </p:sp>
      <p:sp>
        <p:nvSpPr>
          <p:cNvPr id="4" name="Code box"/>
          <p:cNvSpPr/>
          <p:nvPr/>
        </p:nvSpPr>
        <p:spPr>
          <a:xfrm>
            <a:off x="5897880" y="2651760"/>
            <a:ext cx="3520440" cy="1574597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89320" y="2697480"/>
            <a:ext cx="3337560" cy="1483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:root{ --bg:#0f1720; --warn:#f59e0b;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--ok:#22c55e; --crit:#ef4444;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@media(prefers-color-scheme:light){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:root{ --bg:#f1f4f7; --card:#fff;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.g{ display:grid; gap:14px;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repeat(auto-fit,minmax(210px,1fr));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@media(pointer:fine){ .dp{display:none} }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4299509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styles.css: variables, grid, media queries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76656" y="164592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 II: JAVASCRIPT SPA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04088" y="2606040"/>
            <a:ext cx="4937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Single-page app, no framework: views return HTML strings.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Global state S is saved after every change.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modules are data in MODS, no new engine code.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procedure engine serves cards, 3D and AR.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Inline handlers keep each view self-contained.</a:t>
            </a:r>
            <a:endParaRPr lang="en-US" sz="1400" dirty="0"/>
          </a:p>
        </p:txBody>
      </p:sp>
      <p:sp>
        <p:nvSpPr>
          <p:cNvPr id="4" name="Code box"/>
          <p:cNvSpPr/>
          <p:nvPr/>
        </p:nvSpPr>
        <p:spPr>
          <a:xfrm>
            <a:off x="5897880" y="2651760"/>
            <a:ext cx="3520440" cy="1574597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89320" y="2697480"/>
            <a:ext cx="3337560" cy="1483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V={}, I={};  // views, init hooks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V.dash = () =&gt; `&lt;div class=w&gt;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&lt;h1&gt;Welcome, ${S.name}&lt;/h1&gt;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&lt;/div&gt;`;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go(n){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app.innerHTML = V[n]();  // render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(I[n]) I[n]();     // behaviour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window.scrollTo(0,0);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4299509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app.js: view router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76656" y="164592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3D WITH THREE.JS &amp; WEBXR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04088" y="2606040"/>
            <a:ext cx="5577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3D scene: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Scene, camera and WebGL renderer with Lambert materials.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First-person look and move, plus a touch pad.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Hand-held tools follow the camera and animate when used.</a:t>
            </a:r>
            <a:endParaRPr lang="en-US" sz="14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Immersion: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WebXR immersive-vr session for Meta Quest Browser.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Clear message when WebXR is unsupported.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Renderer is isolated, so Unity or WebXR can replace it.</a:t>
            </a:r>
            <a:endParaRPr lang="en-US" sz="1400" dirty="0"/>
          </a:p>
        </p:txBody>
      </p:sp>
      <p:sp>
        <p:nvSpPr>
          <p:cNvPr id="4" name="Step 1"/>
          <p:cNvSpPr/>
          <p:nvPr/>
        </p:nvSpPr>
        <p:spPr>
          <a:xfrm>
            <a:off x="6556248" y="2651760"/>
            <a:ext cx="2862072" cy="5669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56248" y="265176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059168" y="265176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Input: drag, WASD, tap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987284" y="3236976"/>
            <a:ext cx="0" cy="201168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8" name="Step 2"/>
          <p:cNvSpPr/>
          <p:nvPr/>
        </p:nvSpPr>
        <p:spPr>
          <a:xfrm>
            <a:off x="6556248" y="3456432"/>
            <a:ext cx="2862072" cy="5669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6248" y="345643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059168" y="3456432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Raycaster picks object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87284" y="4041648"/>
            <a:ext cx="0" cy="201168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Step 3"/>
          <p:cNvSpPr/>
          <p:nvPr/>
        </p:nvSpPr>
        <p:spPr>
          <a:xfrm>
            <a:off x="6556248" y="4261104"/>
            <a:ext cx="2862072" cy="5669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56248" y="426110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059168" y="4261104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Rules check step order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87284" y="4846320"/>
            <a:ext cx="0" cy="201168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Step 4"/>
          <p:cNvSpPr/>
          <p:nvPr/>
        </p:nvSpPr>
        <p:spPr>
          <a:xfrm>
            <a:off x="6556248" y="5065776"/>
            <a:ext cx="2862072" cy="56692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56248" y="506577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059168" y="5065776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Render every frame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76656" y="164592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BROWSER APIS USED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04088" y="2606040"/>
            <a:ext cx="5577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WebGL (Three.js): </a:t>
            </a:r>
            <a:pPr algn="just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3D workshop and card-space view.</a:t>
            </a:r>
            <a:endParaRPr lang="en-US" sz="1400" dirty="0"/>
          </a:p>
          <a:p>
            <a:pPr algn="just"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WebXR Device API: </a:t>
            </a:r>
            <a:pPr algn="just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immersive VR session on Meta Quest.</a:t>
            </a:r>
            <a:endParaRPr lang="en-US" sz="1400" dirty="0"/>
          </a:p>
          <a:p>
            <a:pPr algn="just"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getUserMedia: </a:t>
            </a:r>
            <a:pPr algn="just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camera feed for AR mode.</a:t>
            </a:r>
            <a:endParaRPr lang="en-US" sz="1400" dirty="0"/>
          </a:p>
          <a:p>
            <a:pPr algn="just"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Canvas getImageData: </a:t>
            </a:r>
            <a:pPr algn="just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frame analysis that places AR markers.</a:t>
            </a:r>
            <a:endParaRPr lang="en-US" sz="1400" dirty="0"/>
          </a:p>
          <a:p>
            <a:pPr algn="just"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FileReader: </a:t>
            </a:r>
            <a:pPr algn="just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analyse an uploaded photo instead of the camera.</a:t>
            </a:r>
            <a:endParaRPr lang="en-US" sz="1400" dirty="0"/>
          </a:p>
          <a:p>
            <a:pPr algn="just"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speechSynthesis: </a:t>
            </a:r>
            <a:pPr algn="just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voice coach reads steps, hints and warnings.</a:t>
            </a:r>
            <a:endParaRPr lang="en-US" sz="1400" dirty="0"/>
          </a:p>
          <a:p>
            <a:pPr algn="just"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Audio: </a:t>
            </a:r>
            <a:pPr algn="just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beeps for violations and success.</a:t>
            </a:r>
            <a:endParaRPr lang="en-US" sz="1400" dirty="0"/>
          </a:p>
          <a:p>
            <a:pPr algn="just"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localStorage: </a:t>
            </a:r>
            <a:pPr algn="just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saves progress, XP, badges, voice setting.</a:t>
            </a:r>
            <a:endParaRPr lang="en-US" sz="1400" dirty="0"/>
          </a:p>
          <a:p>
            <a:pPr algn="just"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Clipboard API: </a:t>
            </a:r>
            <a:pPr algn="just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copies the training report summary.</a:t>
            </a:r>
            <a:endParaRPr lang="en-US" sz="1400" dirty="0"/>
          </a:p>
        </p:txBody>
      </p:sp>
      <p:sp>
        <p:nvSpPr>
          <p:cNvPr id="4" name="API chip WebGL"/>
          <p:cNvSpPr/>
          <p:nvPr/>
        </p:nvSpPr>
        <p:spPr>
          <a:xfrm>
            <a:off x="6556248" y="2651760"/>
            <a:ext cx="1362456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47688" y="2651760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WebGL</a:t>
            </a:r>
            <a:endParaRPr lang="en-US" sz="1100" dirty="0"/>
          </a:p>
        </p:txBody>
      </p:sp>
      <p:sp>
        <p:nvSpPr>
          <p:cNvPr id="6" name="API chip WebXR"/>
          <p:cNvSpPr/>
          <p:nvPr/>
        </p:nvSpPr>
        <p:spPr>
          <a:xfrm>
            <a:off x="8055864" y="2651760"/>
            <a:ext cx="1362456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47304" y="2651760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WebXR</a:t>
            </a:r>
            <a:endParaRPr lang="en-US" sz="1100" dirty="0"/>
          </a:p>
        </p:txBody>
      </p:sp>
      <p:sp>
        <p:nvSpPr>
          <p:cNvPr id="8" name="API chip getUserMedia"/>
          <p:cNvSpPr/>
          <p:nvPr/>
        </p:nvSpPr>
        <p:spPr>
          <a:xfrm>
            <a:off x="6556248" y="3218688"/>
            <a:ext cx="1362456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47688" y="3218688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getUserMedia</a:t>
            </a:r>
            <a:endParaRPr lang="en-US" sz="1100" dirty="0"/>
          </a:p>
        </p:txBody>
      </p:sp>
      <p:sp>
        <p:nvSpPr>
          <p:cNvPr id="10" name="API chip getImageData"/>
          <p:cNvSpPr/>
          <p:nvPr/>
        </p:nvSpPr>
        <p:spPr>
          <a:xfrm>
            <a:off x="8055864" y="3218688"/>
            <a:ext cx="1362456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47304" y="3218688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getImageData</a:t>
            </a:r>
            <a:endParaRPr lang="en-US" sz="1100" dirty="0"/>
          </a:p>
        </p:txBody>
      </p:sp>
      <p:sp>
        <p:nvSpPr>
          <p:cNvPr id="12" name="API chip FileReader"/>
          <p:cNvSpPr/>
          <p:nvPr/>
        </p:nvSpPr>
        <p:spPr>
          <a:xfrm>
            <a:off x="6556248" y="3785616"/>
            <a:ext cx="1362456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47688" y="3785616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FileReader</a:t>
            </a:r>
            <a:endParaRPr lang="en-US" sz="1100" dirty="0"/>
          </a:p>
        </p:txBody>
      </p:sp>
      <p:sp>
        <p:nvSpPr>
          <p:cNvPr id="14" name="API chip speechSynthesis"/>
          <p:cNvSpPr/>
          <p:nvPr/>
        </p:nvSpPr>
        <p:spPr>
          <a:xfrm>
            <a:off x="8055864" y="3785616"/>
            <a:ext cx="1362456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47304" y="3785616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speechSynthesis</a:t>
            </a:r>
            <a:endParaRPr lang="en-US" sz="1100" dirty="0"/>
          </a:p>
        </p:txBody>
      </p:sp>
      <p:sp>
        <p:nvSpPr>
          <p:cNvPr id="16" name="API chip Web Audio"/>
          <p:cNvSpPr/>
          <p:nvPr/>
        </p:nvSpPr>
        <p:spPr>
          <a:xfrm>
            <a:off x="6556248" y="4352544"/>
            <a:ext cx="1362456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47688" y="4352544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Audio</a:t>
            </a:r>
            <a:endParaRPr lang="en-US" sz="1100" dirty="0"/>
          </a:p>
        </p:txBody>
      </p:sp>
      <p:sp>
        <p:nvSpPr>
          <p:cNvPr id="18" name="API chip localStorage"/>
          <p:cNvSpPr/>
          <p:nvPr/>
        </p:nvSpPr>
        <p:spPr>
          <a:xfrm>
            <a:off x="8055864" y="4352544"/>
            <a:ext cx="1362456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47304" y="4352544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localStorage</a:t>
            </a:r>
            <a:endParaRPr lang="en-US" sz="1100" dirty="0"/>
          </a:p>
        </p:txBody>
      </p:sp>
      <p:sp>
        <p:nvSpPr>
          <p:cNvPr id="20" name="API chip Clipboard"/>
          <p:cNvSpPr/>
          <p:nvPr/>
        </p:nvSpPr>
        <p:spPr>
          <a:xfrm>
            <a:off x="6556248" y="4919472"/>
            <a:ext cx="2862072" cy="4572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47688" y="4919472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Clipboard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56248" y="5440680"/>
            <a:ext cx="2862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 browser APIs, no plugins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76656" y="164592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 ENGINE &amp; SCORING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04088" y="2606040"/>
            <a:ext cx="5577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 weights: </a:t>
            </a:r>
            <a:pPr algn="just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safety check is a penalty. Electrical: PPE 12, isolation 15, zone 12, tool 8, sequence 8. Welding: fire 15, fumes 10, clamp 10, WPS 10.</a:t>
            </a:r>
            <a:endParaRPr lang="en-US" sz="1400" dirty="0"/>
          </a:p>
          <a:p>
            <a:pPr algn="just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Levels: </a:t>
            </a:r>
            <a:pPr algn="just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Beginner, Developing, Intermediate, Advanced (85+), Expert (95+).</a:t>
            </a:r>
            <a:endParaRPr lang="en-US" sz="1400" dirty="0"/>
          </a:p>
          <a:p>
            <a:pPr algn="just"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Recommender: </a:t>
            </a:r>
            <a:pPr algn="just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rules over the last 3 sessions, e.g. repeated PPE errors suggest safety-prep practice.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64808" y="2606040"/>
          <a:ext cx="2953512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box"/>
          <p:cNvSpPr/>
          <p:nvPr/>
        </p:nvSpPr>
        <p:spPr>
          <a:xfrm>
            <a:off x="6556248" y="4983480"/>
            <a:ext cx="1362456" cy="8686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56248" y="5056632"/>
            <a:ext cx="136245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85+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629400" y="5461254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Advanced level</a:t>
            </a:r>
            <a:endParaRPr lang="en-US" sz="1000" dirty="0"/>
          </a:p>
        </p:txBody>
      </p:sp>
      <p:sp>
        <p:nvSpPr>
          <p:cNvPr id="8" name="Stat box"/>
          <p:cNvSpPr/>
          <p:nvPr/>
        </p:nvSpPr>
        <p:spPr>
          <a:xfrm>
            <a:off x="8055864" y="4983480"/>
            <a:ext cx="1362456" cy="8686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55864" y="5056632"/>
            <a:ext cx="1362456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95+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8129016" y="5461254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Expert level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76656" y="164592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&amp; STORAGE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04088" y="2606040"/>
            <a:ext cx="4937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key, ssvr, holds the whole state.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Reads and writes wrapped in try/catch.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 is name-only, stored locally.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Instructor view mixes sample cohort with local sessions.</a:t>
            </a:r>
            <a:endParaRPr lang="en-US" sz="1400" dirty="0"/>
          </a:p>
          <a:p>
            <a:pPr algn="just" indent="0" marL="0">
              <a:spcAft>
                <a:spcPts val="700"/>
              </a:spcAft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Limitation: </a:t>
            </a:r>
            <a:pPr algn="just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lives in one browser. Sharing progress with instructors needs a backend.</a:t>
            </a:r>
            <a:endParaRPr lang="en-US" sz="1400" dirty="0"/>
          </a:p>
        </p:txBody>
      </p:sp>
      <p:sp>
        <p:nvSpPr>
          <p:cNvPr id="4" name="Code box"/>
          <p:cNvSpPr/>
          <p:nvPr/>
        </p:nvSpPr>
        <p:spPr>
          <a:xfrm>
            <a:off x="5897880" y="2651760"/>
            <a:ext cx="3520440" cy="1719072"/>
          </a:xfrm>
          <a:prstGeom prst="rect">
            <a:avLst/>
          </a:prstGeom>
          <a:solidFill>
            <a:schemeClr val="bg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89320" y="2697480"/>
            <a:ext cx="33375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name, xp, streak, badges[], vo,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hist: [{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d, mod, score, safety, proc, haz,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task, te, time, mist[], hints, level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persisted as one JSON string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localStorage.setItem("ssvr",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JSON.stringify(S));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897880" y="44439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state.js: one JSON state object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76656" y="164592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DESIGN (PROPOSED)</a:t>
            </a:r>
            <a:endParaRPr lang="en-US" sz="2600" dirty="0"/>
          </a:p>
        </p:txBody>
      </p:sp>
      <p:sp>
        <p:nvSpPr>
          <p:cNvPr id="3" name="Tier Browser SPA"/>
          <p:cNvSpPr/>
          <p:nvPr/>
        </p:nvSpPr>
        <p:spPr>
          <a:xfrm>
            <a:off x="704088" y="2606040"/>
            <a:ext cx="2560320" cy="7132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95528" y="26060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Browser SPA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project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310128" y="2962656"/>
            <a:ext cx="42519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6" name="Tier REST API"/>
          <p:cNvSpPr/>
          <p:nvPr/>
        </p:nvSpPr>
        <p:spPr>
          <a:xfrm>
            <a:off x="3781044" y="2606040"/>
            <a:ext cx="2560320" cy="7132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72484" y="26060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 API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Node/Express or FastAPI, JWT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87084" y="2962656"/>
            <a:ext cx="425196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Tier Database"/>
          <p:cNvSpPr/>
          <p:nvPr/>
        </p:nvSpPr>
        <p:spPr>
          <a:xfrm>
            <a:off x="6858000" y="2606040"/>
            <a:ext cx="2560320" cy="7132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0" y="26060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PostgreSQL, Supabase or Firebase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" y="3566160"/>
          <a:ext cx="55778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468880"/>
                <a:gridCol w="22860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Method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Endpoint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Purpose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POST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/api/auth/login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Sign in, returns JWT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/api/sessions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Trainee history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POST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/api/sessions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Save a finished run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/api/recommendations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Next training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/api/instructor/cohort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 analytics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ecurity box"/>
          <p:cNvSpPr/>
          <p:nvPr/>
        </p:nvSpPr>
        <p:spPr>
          <a:xfrm>
            <a:off x="6556248" y="3566160"/>
            <a:ext cx="2862072" cy="18653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647688" y="3566160"/>
            <a:ext cx="2679192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Tables and security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Tables: users, sessions, badges.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Security: HTTPS, hashed passwords, JWT, trainee and instructor roles, input validation.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04088" y="5623560"/>
            <a:ext cx="8714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for the next phase. The current prototype is client-side only.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76656" y="164592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CHALLENGES &amp; CONCLUSION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04088" y="2606040"/>
            <a:ext cx="55778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Challenges solved: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Thin 3D tools were hard to click: larger invisible hit boxes.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 render loops: per-run stop flag and disposal.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Element id clash hid the login input: unique ids.</a:t>
            </a:r>
            <a:endParaRPr lang="en-US" sz="13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Touch devices: on-screen move pad.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scope: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with real login and a database.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More modules: construction, machines, automotive.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object recognition for true AR.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Multi-user instructor monitoring.</a:t>
            </a:r>
            <a:endParaRPr lang="en-US" sz="1300" dirty="0"/>
          </a:p>
        </p:txBody>
      </p:sp>
      <p:sp>
        <p:nvSpPr>
          <p:cNvPr id="4" name="Conclusion box"/>
          <p:cNvSpPr/>
          <p:nvPr/>
        </p:nvSpPr>
        <p:spPr>
          <a:xfrm>
            <a:off x="6556248" y="2651760"/>
            <a:ext cx="2862072" cy="29260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47688" y="2651760"/>
            <a:ext cx="26791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 web technologies alone can deliver safe, measurable, hands-on vocational training.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76656" y="164592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3" name="Thank you panel"/>
          <p:cNvSpPr/>
          <p:nvPr/>
        </p:nvSpPr>
        <p:spPr>
          <a:xfrm>
            <a:off x="1005840" y="2542032"/>
            <a:ext cx="8046720" cy="3429000"/>
          </a:xfrm>
          <a:prstGeom prst="rect">
            <a:avLst/>
          </a:prstGeom>
          <a:solidFill>
            <a:schemeClr val="bg1">
              <a:alpha val="80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265176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SkillSafe VR: AR/VR Vocational Safety Training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01752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Programming Mini Project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61188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DEMO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97764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Runs in a phone, laptop or VR headset browser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29768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install, no server: share a link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93776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 Stack: HTML5 | CSS3 | JavaScript | Three.js | WebXR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530352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Submitted by: Sidharth Reddy C, B.E. CSE (Cyber Security)</a:t>
            </a:r>
            <a:endParaRPr lang="en-US" sz="1400" dirty="0"/>
          </a:p>
        </p:txBody>
      </p:sp>
      <p:sp>
        <p:nvSpPr>
          <p:cNvPr id="11" name="Text 3"/>
          <p:cNvSpPr/>
          <p:nvPr>
            <p:ph idx="103" type="title" hasCustomPrompt="1"/>
          </p:nvPr>
        </p:nvSpPr>
        <p:spPr>
          <a:xfrm>
            <a:off x="676656" y="164592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62636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C Template">
  <a:themeElements>
    <a:clrScheme name="REC Template">
      <a:dk1>
        <a:srgbClr val="000000"/>
      </a:dk1>
      <a:lt1>
        <a:srgbClr val="FFFFFF"/>
      </a:lt1>
      <a:dk2>
        <a:srgbClr val="002060"/>
      </a:dk2>
      <a:lt2>
        <a:srgbClr val="F2F2F2"/>
      </a:lt2>
      <a:accent1>
        <a:srgbClr val="990000"/>
      </a:accent1>
      <a:accent2>
        <a:srgbClr val="C00000"/>
      </a:accent2>
      <a:accent3>
        <a:srgbClr val="7030A0"/>
      </a:accent3>
      <a:accent4>
        <a:srgbClr val="002060"/>
      </a:accent4>
      <a:accent5>
        <a:srgbClr val="7F7F7F"/>
      </a:accent5>
      <a:accent6>
        <a:srgbClr val="D9D9D9"/>
      </a:accent6>
      <a:hlink>
        <a:srgbClr val="002060"/>
      </a:hlink>
      <a:folHlink>
        <a:srgbClr val="7030A0"/>
      </a:folHlink>
    </a:clrScheme>
    <a:fontScheme name="REC Templat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2026-10-29T14:00:39Z</dcterms:created>
  <dcterms:modified xsi:type="dcterms:W3CDTF">2026-10-29T14:00:39Z</dcterms:modified>
</cp:coreProperties>
</file>